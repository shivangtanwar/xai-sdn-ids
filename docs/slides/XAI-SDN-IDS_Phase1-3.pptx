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A78D6"/>
                </a:solidFill>
              </a:defRPr>
            </a:pPr>
            <a:r>
              <a:t>SOFTWARE DEFINED SECURITY · END-TERM PROJECT · PHASE 1–3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B0B0B"/>
                </a:solidFill>
              </a:defRPr>
            </a:pPr>
            <a:r>
              <a:t>Explainable AI-Based SDN Intrusion Detection</a:t>
            </a:r>
          </a:p>
          <a:p>
            <a:pPr>
              <a:defRPr sz="4000" b="1">
                <a:solidFill>
                  <a:srgbClr val="0B0B0B"/>
                </a:solidFill>
              </a:defRPr>
            </a:pPr>
            <a:r>
              <a:t>and Automated Flow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52514E"/>
                </a:solidFill>
              </a:defRPr>
            </a:pPr>
            <a:r>
              <a:t>XAI-SDN-IDS: Ryu + Mininet/OVS · Random Forest · SHAP · Confidence-Gated Response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B0B0B"/>
                </a:solidFill>
              </a:defRPr>
            </a:pPr>
            <a:r>
              <a:t>Team: &lt;names / roll numbers&gt;</a:t>
            </a:r>
          </a:p>
          <a:p>
            <a:pPr>
              <a:defRPr sz="1800" b="0">
                <a:solidFill>
                  <a:srgbClr val="0B0B0B"/>
                </a:solidFill>
              </a:defRPr>
            </a:pPr>
            <a:r>
              <a:t>Faculty: Dr. Sumit Badotra ·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Why SDN intrusion detection needs explanations and guard-rails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0B0B0B"/>
                </a:solidFill>
              </a:defRPr>
            </a:pPr>
            <a:r>
              <a:t>•  SDN gives the controller a global, programmable view, so IDS/IPS can run as a controller app</a:t>
            </a:r>
          </a:p>
          <a:p>
            <a:pPr>
              <a:spcAft>
                <a:spcPts val="600"/>
              </a:spcAft>
              <a:defRPr sz="1900">
                <a:solidFill>
                  <a:srgbClr val="0B0B0B"/>
                </a:solidFill>
              </a:defRPr>
            </a:pPr>
            <a:r>
              <a:t>•  ML-based SDN IDSs report ≥ 99% accuracy, but:</a:t>
            </a:r>
          </a:p>
          <a:p>
            <a:pPr lvl="1">
              <a:spcAft>
                <a:spcPts val="600"/>
              </a:spcAft>
              <a:defRPr sz="1600">
                <a:solidFill>
                  <a:srgbClr val="52514E"/>
                </a:solidFill>
              </a:defRPr>
            </a:pPr>
            <a:r>
              <a:t>–  Black box: operators cannot see why a host was flagged, so they cannot trust or audit it</a:t>
            </a:r>
          </a:p>
          <a:p>
            <a:pPr lvl="1">
              <a:spcAft>
                <a:spcPts val="600"/>
              </a:spcAft>
              <a:defRPr sz="1600">
                <a:solidFill>
                  <a:srgbClr val="52514E"/>
                </a:solidFill>
              </a:defRPr>
            </a:pPr>
            <a:r>
              <a:t>–  Trigger-happy: most install a DROP on the first positive. A false positive becomes a self-inflicted DoS</a:t>
            </a:r>
          </a:p>
          <a:p>
            <a:pPr lvl="1">
              <a:spcAft>
                <a:spcPts val="600"/>
              </a:spcAft>
              <a:defRPr sz="1600">
                <a:solidFill>
                  <a:srgbClr val="52514E"/>
                </a:solidFill>
              </a:defRPr>
            </a:pPr>
            <a:r>
              <a:t>–  Offline: evaluated on CSV datasets whose features a controller cannot actually measure</a:t>
            </a:r>
          </a:p>
          <a:p>
            <a:pPr>
              <a:spcAft>
                <a:spcPts val="600"/>
              </a:spcAft>
              <a:defRPr sz="1900">
                <a:solidFill>
                  <a:srgbClr val="0B0B0B"/>
                </a:solidFill>
              </a:defRPr>
            </a:pPr>
            <a:r>
              <a:t>•  Problem #15: collect OVS flow stats → ML IDS → feature-level explanations → install mitigation only when defined confidence/security conditions are satisfied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1 ·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 O1  Multi-switch Mininet/OVS testbed with benign traffic + 4 attack classes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 O2  Ryu app: poll OpenFlow flow stats every 2 s → 14 per-source features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 O3  Train &amp; compare multi-class detectors (Acc, P, R, F1, FPR, FNR)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 O4  SHAP feature-level explanations: local per alert, global per model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 O5  Confidence-Gated Response Engine: alert → meter rate-limit → self-expiring DROP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 O6  Evaluate detection/mitigation latency, victim QoS, controller overhead, gating ablation</a:t>
            </a:r>
          </a:p>
          <a:p>
            <a:pPr>
              <a:spcAft>
                <a:spcPts val="600"/>
              </a:spcAft>
              <a:defRPr sz="1800">
                <a:solidFill>
                  <a:srgbClr val="0B0B0B"/>
                </a:solidFill>
              </a:defRPr>
            </a:pPr>
            <a:r>
              <a:t>•  Scope: emulated SDN (OF1.3), volumetric + recon attacks from identifiable sources. Out of scope: payload/DPI, spoofed-source attribution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1 · 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Literature review: 16 verified papers (2020–2026)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914400"/>
                <a:gridCol w="1828800"/>
                <a:gridCol w="2468880"/>
              </a:tblGrid>
              <a:tr h="32004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XAI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Auto-mitigation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Gating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[1] Elsayed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InSDN dataset (ONOS testbed)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–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[2] Novaes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LSTM + fuzzy, Floodlight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statistical τ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[3] Tan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trigger + KMeans/KNN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2-stage filter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[5] Alashhab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online ensemble, Ryu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n/r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[6] El Kamel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DNN rate limiting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trust score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[7] Wang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SHAP for IDS (NSL-KDD)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–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[11] Saykat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OptiXGB, InSDN, SHAP/LIME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–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[12] Ahmad 2026*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XAI-SDN: RF + SHAP, Ryu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offline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single τ=0.70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RF + SHAP + CGRE, live Ryu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✓ graduated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G1–G4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2514E"/>
                </a:solidFill>
              </a:defRPr>
            </a:pPr>
            <a:r>
              <a:t>* preprint. Full table, synthesis and DOIs: docs/research/literature_review.md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1 ·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Research gaps → our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RG1  Explanations never drive mitigation (offline [10][11] or analyst-only [12]) → SHAP is an input to the policy</a:t>
            </a:r>
          </a:p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RG2  No multi-condition safety gate in SDN controllers → confidence + persistence + XAI + asset gates</a:t>
            </a:r>
          </a:p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RG3  Explanation quality only scored offline [9][13] → per-alert runtime consistency check</a:t>
            </a:r>
          </a:p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RG4  Graduated, self-expiring response is rare [6] → alert → meter → DROP with hard_timeout</a:t>
            </a:r>
          </a:p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RG5  SDN XAI is mostly binary/offline → 5-class model on controller-native OpenFlow features</a:t>
            </a:r>
          </a:p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RG6  Per-flow SHAP is ~31× slower [12] → explain only flagged per-source windows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2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816709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2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Topology &amp; OpenFlow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pic>
        <p:nvPicPr>
          <p:cNvPr id="6" name="Picture 5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949440" cy="35259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46304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B0B0B"/>
                </a:solidFill>
              </a:defRPr>
            </a:pPr>
            <a:r>
              <a:t>•  Table 0 SECURITY: DROP / meter rules, default goto 1</a:t>
            </a:r>
          </a:p>
          <a:p>
            <a:pPr>
              <a:spcAft>
                <a:spcPts val="600"/>
              </a:spcAft>
              <a:defRPr sz="1500">
                <a:solidFill>
                  <a:srgbClr val="0B0B0B"/>
                </a:solidFill>
              </a:defRPr>
            </a:pPr>
            <a:r>
              <a:t>•  Table 1 FORWARDING: L2 learning + L3/L4 rules, miss → controller</a:t>
            </a:r>
          </a:p>
          <a:p>
            <a:pPr>
              <a:spcAft>
                <a:spcPts val="600"/>
              </a:spcAft>
              <a:defRPr sz="1500">
                <a:solidFill>
                  <a:srgbClr val="0B0B0B"/>
                </a:solidFill>
              </a:defRPr>
            </a:pPr>
            <a:r>
              <a:t>•  Match = (src, dst, proto, service port). Random source ports don't explode the flow table</a:t>
            </a:r>
          </a:p>
          <a:p>
            <a:pPr>
              <a:spcAft>
                <a:spcPts val="600"/>
              </a:spcAft>
              <a:defRPr sz="1500">
                <a:solidFill>
                  <a:srgbClr val="0B0B0B"/>
                </a:solidFill>
              </a:defRPr>
            </a:pPr>
            <a:r>
              <a:t>•  idle_timeout 10 s; stats polled every 2 s</a:t>
            </a:r>
          </a:p>
          <a:p>
            <a:pPr>
              <a:spcAft>
                <a:spcPts val="600"/>
              </a:spcAft>
              <a:defRPr sz="1500">
                <a:solidFill>
                  <a:srgbClr val="0B0B0B"/>
                </a:solidFill>
              </a:defRPr>
            </a:pPr>
            <a:r>
              <a:t>•  h5/h6 are protected assets (G4)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2 ·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14 interpretable per-source features (2 s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7772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114800"/>
              </a:tblGrid>
              <a:tr h="3200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Feature(s)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Attack signal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pkt_rate, byte_rate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volume: floods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avg_pkt_size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tiny packets: SYN/ICMP flood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n_flows, new_flows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flow churn: scans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n_dst_ips, n_dst_ports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fan-out: sweeps/scans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frac_tcp / frac_udp / frac_icmp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protocol mix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pkts_per_flow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low: scan · high: flood/bulk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frac_small_flows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half-open / probe flows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mean_flow_duration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short vs persistent flows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pktin_rate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control-plane pressure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95360" y="146304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0B0B0B"/>
                </a:solidFill>
              </a:defRPr>
            </a:pPr>
            <a:r>
              <a:t>Classes:</a:t>
            </a: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benign</a:t>
            </a: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icmp_flood</a:t>
            </a: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syn_flood</a:t>
            </a: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udp_flood</a:t>
            </a: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port_scan</a:t>
            </a:r>
          </a:p>
          <a:p>
            <a:pPr>
              <a:defRPr sz="1500" b="0">
                <a:solidFill>
                  <a:srgbClr val="0B0B0B"/>
                </a:solidFill>
              </a:defRPr>
            </a:pPr>
          </a:p>
          <a:p>
            <a:pPr>
              <a:defRPr sz="1500" b="0">
                <a:solidFill>
                  <a:srgbClr val="0B0B0B"/>
                </a:solidFill>
              </a:defRPr>
            </a:pPr>
            <a:r>
              <a:t>Benign includes heavy iperf3 transfers, so the model cannot learn 'rate = attack'.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2 · SECURITY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Innovation: Confidence-Gated Response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pic>
        <p:nvPicPr>
          <p:cNvPr id="6" name="Picture 5" descr="cgr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7823676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463040"/>
            <a:ext cx="3474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B0B0B"/>
                </a:solidFill>
              </a:defRPr>
            </a:pPr>
            <a:r>
              <a:t>•  G1  p ≥ 0.70 to act, ≥ 0.90 to block</a:t>
            </a:r>
          </a:p>
          <a:p>
            <a:pPr>
              <a:spcAft>
                <a:spcPts val="600"/>
              </a:spcAft>
              <a:defRPr sz="1500">
                <a:solidFill>
                  <a:srgbClr val="0B0B0B"/>
                </a:solidFill>
              </a:defRPr>
            </a:pPr>
            <a:r>
              <a:t>•  G2  ≥ 2 of last 3 windows</a:t>
            </a:r>
          </a:p>
          <a:p>
            <a:pPr>
              <a:spcAft>
                <a:spcPts val="600"/>
              </a:spcAft>
              <a:defRPr sz="1500">
                <a:solidFill>
                  <a:srgbClr val="0B0B0B"/>
                </a:solidFill>
              </a:defRPr>
            </a:pPr>
            <a:r>
              <a:t>•  G3  top-3 SHAP ∩ class signature</a:t>
            </a:r>
          </a:p>
          <a:p>
            <a:pPr>
              <a:spcAft>
                <a:spcPts val="600"/>
              </a:spcAft>
              <a:defRPr sz="1500">
                <a:solidFill>
                  <a:srgbClr val="0B0B0B"/>
                </a:solidFill>
              </a:defRPr>
            </a:pPr>
            <a:r>
              <a:t>•  G4  never block protected assets</a:t>
            </a:r>
          </a:p>
          <a:p>
            <a:pPr>
              <a:spcAft>
                <a:spcPts val="600"/>
              </a:spcAft>
              <a:defRPr sz="1500">
                <a:solidFill>
                  <a:srgbClr val="0B0B0B"/>
                </a:solidFill>
              </a:defRPr>
            </a:pPr>
            <a:r>
              <a:t>•  Rules auto-expire (60 s): a false positive heals itself</a:t>
            </a:r>
          </a:p>
          <a:p>
            <a:pPr>
              <a:spcAft>
                <a:spcPts val="600"/>
              </a:spcAft>
              <a:defRPr sz="1500">
                <a:solidFill>
                  <a:srgbClr val="0B0B0B"/>
                </a:solidFill>
              </a:defRPr>
            </a:pPr>
            <a:r>
              <a:t>•  Audit log + REST override (human-in-the-loop)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2 ·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Technology choices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320039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Why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Ryu 4.34 (Python)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ML/SHAP in-process; simple OF1.3 stats, meters, multi-table (ODL/ONOS: Java, heavy)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OpenFlow 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meters for rate-limiting, multiple tables, per-flow counters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Mininet 2.3 + OVS 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course standard, real OVS kernel datapath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best accuracy/latency trade-off on tabular data; exact fast TreeSHAP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SHAP TreeExplainer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additive, consistent, local + global; ms per alert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Docker Compose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reproducible on all laptops; Ryu needs Python 3.9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3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Implementation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•  Docker testbed: controller (Py3.9, Ryu, sklearn, SHAP) + privileged Mininet/OVS container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•  controller/xai_ids_app.py: two-table pipeline, reactive forwarding, stats poller, mitigator (DROP + meters), REST API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•  ids/: feature extractor, detector, SHAP explainer, response engine (policy.py), config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•  traffic/scenarios.py: randomised labelled episodes (hping3 ICMP/SYN/UDP floods, nmap -sS/-sT, iperf3, curl, ping)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•  ml/: dataset labelling, 7-model comparison, SHAP figures, audit/latency summary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•  Unit tests for feature extraction and every CGRE gate (9/9 passing)</a:t>
            </a:r>
          </a:p>
          <a:p>
            <a:pPr>
              <a:spcAft>
                <a:spcPts val="600"/>
              </a:spcAft>
              <a:defRPr sz="1600">
                <a:solidFill>
                  <a:srgbClr val="0B0B0B"/>
                </a:solidFill>
              </a:defRPr>
            </a:pPr>
            <a:r>
              <a:t>•  Three modes: collect (dataset) · monitor (explain, never act) · detect (closed loop)</a:t>
            </a:r>
          </a:p>
        </p:txBody>
      </p:sp>
      <p:pic>
        <p:nvPicPr>
          <p:cNvPr id="7" name="Picture 6" descr="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931920"/>
            <a:ext cx="9601200" cy="2411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3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Preliminary results: held-out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949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85800"/>
                <a:gridCol w="685800"/>
                <a:gridCol w="685800"/>
                <a:gridCol w="685800"/>
                <a:gridCol w="685800"/>
                <a:gridCol w="685800"/>
                <a:gridCol w="73152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Prec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Rec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FNR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µs/sample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37.2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ExtraTrees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34.7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33.7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DecisionTree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89.9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0.662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8.1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LogisticRegression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0.822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0.639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0"/>
                      </a:pPr>
                      <a:r>
                        <a:t>1.3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confusion_matrix_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650971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3949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14E"/>
                </a:solidFill>
              </a:defRPr>
            </a:pPr>
            <a:r>
              <a:t>Trained on session 1, tested on an independent session 2 (different seed, rates, attackers, victims). FPR/FNR = benign-vs-attack view. Macro metrics over 5 classes.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3 · XAI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Explanations: what drives each attack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pic>
        <p:nvPicPr>
          <p:cNvPr id="6" name="Picture 5" descr="shap_per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31176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57200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B0B0B"/>
                </a:solidFill>
              </a:defRPr>
            </a:pPr>
            <a:r>
              <a:t>Real alert from the demo audit log:</a:t>
            </a:r>
          </a:p>
          <a:p>
            <a:pPr>
              <a:defRPr sz="1400" b="0">
                <a:solidFill>
                  <a:srgbClr val="0B0B0B"/>
                </a:solidFill>
              </a:defRPr>
            </a:pPr>
            <a:r>
              <a:t>10.0.0.4 → syn_flood  p=0.95</a:t>
            </a:r>
          </a:p>
          <a:p>
            <a:pPr>
              <a:defRPr sz="1400" b="0">
                <a:solidFill>
                  <a:srgbClr val="0B0B0B"/>
                </a:solidFill>
              </a:defRPr>
            </a:pPr>
            <a:r>
              <a:t>because frac_tcp=1 (+0.18), avg_pkt_size=54 (+0.12), frac_icmp=0 (+0.11)</a:t>
            </a:r>
          </a:p>
          <a:p>
            <a:pPr>
              <a:defRPr sz="1400" b="0">
                <a:solidFill>
                  <a:srgbClr val="0B0B0B"/>
                </a:solidFill>
              </a:defRPr>
            </a:pPr>
            <a:r>
              <a:t>→ gates passed → BLOCK (auto-expires)</a:t>
            </a:r>
          </a:p>
          <a:p>
            <a:pPr>
              <a:defRPr sz="1400" b="0">
                <a:solidFill>
                  <a:srgbClr val="0B0B0B"/>
                </a:solidFill>
              </a:defRPr>
            </a:pPr>
          </a:p>
          <a:p>
            <a:pPr>
              <a:defRPr sz="1400" b="0">
                <a:solidFill>
                  <a:srgbClr val="0B0B0B"/>
                </a:solidFill>
              </a:defRPr>
            </a:pPr>
            <a:r>
              <a:t>Per-class top features also validate the CGRE signatures (G3).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3 · SECURITY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Gating works: no innocent host blocked, every attack stopped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383280"/>
                <a:gridCol w="2194560"/>
                <a:gridCol w="2194560"/>
              </a:tblGrid>
              <a:tr h="3200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Innocent hosts impaired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Attacks 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Mean time to mitigate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Naive (block on label)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 (h6 server, h8 user)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12/12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5.1 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G1 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12/12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5.1 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G1+G2 persistence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12/12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5.9 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Full CGRE (G1-G4)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12/12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5.9 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14E"/>
                </a:solidFill>
              </a:defRPr>
            </a:pPr>
            <a:r>
              <a:t>Replay of held-out session. Naive blocking hit flood victims whose replies looked like floods.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657600"/>
          <a:ext cx="110642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188720"/>
                <a:gridCol w="1280160"/>
                <a:gridCol w="5303520"/>
              </a:tblGrid>
              <a:tr h="3200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Live closed-loop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Flagged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Mitigated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Action · SHAP reason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Heavy benign 10 Mbps UDP (h1)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none (correct)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SYN flood h4 → h5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2.2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6.4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ALERT → BLOCK · frac_tcp=1, avg_pkt_size=54 B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Port scan h7 → h6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3.8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6.1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ALERT → BLOCK · n_dst_ports=538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UDP flood h4 → h8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2.3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2.4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/>
                      </a:pPr>
                      <a:r>
                        <a:t>RATE_LIMIT (p=.89) → BLOCK (p=.97) · frac_udp=1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2514E"/>
                </a:solidFill>
              </a:defRPr>
            </a:pPr>
            <a:r>
              <a:t>Inference 9–31 ms, SHAP explanation ≈2.5 ms per alert. OVS meters verified (OF1.3, kbps, drop band).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PHASE 3 ·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What we learned: limitations that shape Phase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Same-session CV overstates performance: CV F1 0.97–0.99 for all models, but 0.68–0.97 on an independent session</a:t>
            </a:r>
          </a:p>
          <a:p>
            <a:pPr lvl="1">
              <a:spcAft>
                <a:spcPts val="600"/>
              </a:spcAft>
              <a:defRPr sz="1400">
                <a:solidFill>
                  <a:srgbClr val="52514E"/>
                </a:solidFill>
              </a:defRPr>
            </a:pPr>
            <a:r>
              <a:t>–  we always report held-out-session metrics</a:t>
            </a:r>
          </a:p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Victim reflection: a host answering an ICMP flood emits an equal-rate ICMP stream</a:t>
            </a:r>
          </a:p>
          <a:p>
            <a:pPr lvl="1">
              <a:spcAft>
                <a:spcPts val="600"/>
              </a:spcAft>
              <a:defRPr sz="1400">
                <a:solidFill>
                  <a:srgbClr val="52514E"/>
                </a:solidFill>
              </a:defRPr>
            </a:pPr>
            <a:r>
              <a:t>–  a 2,400 pps ICMP flood was detected with p &lt; 0.70 (confidence gate held it back)</a:t>
            </a:r>
          </a:p>
          <a:p>
            <a:pPr lvl="1">
              <a:spcAft>
                <a:spcPts val="600"/>
              </a:spcAft>
              <a:defRPr sz="1400">
                <a:solidFill>
                  <a:srgbClr val="52514E"/>
                </a:solidFill>
              </a:defRPr>
            </a:pPr>
            <a:r>
              <a:t>–  Phase 4: ICMP-type feature + reflection-aware gate G5</a:t>
            </a:r>
          </a:p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Statistics lag up to 2 polling intervals → detection latency floor ≈ 2–4 s</a:t>
            </a:r>
          </a:p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Labelling bug found and fixed: looping scans outlived their episode (now killed by process group)</a:t>
            </a:r>
          </a:p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G2–G4 did not change outcomes in this session → adversarial/edge scenarios planned for Phase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A78D6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Plan for Phases 4–7 (final evaluation 16–19 Nov)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052560"/>
              </a:tblGrid>
              <a:tr h="320039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When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Work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16–22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More sessions &amp; intensities (incl. low-rate), tuning, InSDN cross-check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23–29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Closed-loop CGRE hardening, meters, audit log, REST API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30 Oct–5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Experiments: detection/mitigation latency, throughput/RTT/loss, CPU/mem, ablation naive vs gated, SHAP vs LIME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6–12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Operator dashboard, final report &amp; figures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13–15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Demo rehearsal, viva preparation, backup recording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0B0B"/>
                </a:solidFill>
              </a:defRPr>
            </a:pPr>
            <a:r>
              <a:t>Thank you.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2514E"/>
                </a:solidFill>
              </a:defRPr>
            </a:pPr>
            <a:r>
              <a:t>XAI-SDN-IDS · Software Defined Security · Problem Statement #15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Code: xai-sdn-ids/ (README → quick start)</a:t>
            </a:r>
          </a:p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Key references: [1] InSDN (IEEE Access 2020) · [6] El Kamel (Comp. Comm. 2022) · [7] Wang (IEEE Access 2020) · [12] XAI-SDN (arXiv 2026) · [13] Alquliti (arXiv 2025)</a:t>
            </a:r>
          </a:p>
          <a:p>
            <a:pPr>
              <a:spcAft>
                <a:spcPts val="600"/>
              </a:spcAft>
              <a:defRPr sz="1700">
                <a:solidFill>
                  <a:srgbClr val="0B0B0B"/>
                </a:solidFill>
              </a:defRPr>
            </a:pPr>
            <a:r>
              <a:t>•  Full IEEE-style reference list in the Phase 1–3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